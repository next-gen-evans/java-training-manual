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 Applets — Training Manual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Evans M. Buongo · Short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Java Applet?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Small Java programs that run in browser plugin (legacy)</a:t>
            </a:r>
          </a:p>
          <a:p>
            <a:pPr>
              <a:defRPr sz="1800"/>
            </a:pPr>
            <a:r>
              <a:t>Extend java.applet.Applet or javax.swing.JApplet</a:t>
            </a:r>
          </a:p>
          <a:p>
            <a:pPr>
              <a:defRPr sz="1800"/>
            </a:pPr>
            <a:r>
              <a:t>Now deprecated due to browser plugin removal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Applet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init() — initialization</a:t>
            </a:r>
          </a:p>
          <a:p>
            <a:pPr>
              <a:defRPr sz="1800"/>
            </a:pPr>
            <a:r>
              <a:t>start() — called when applet becomes active</a:t>
            </a:r>
          </a:p>
          <a:p>
            <a:pPr>
              <a:defRPr sz="1800"/>
            </a:pPr>
            <a:r>
              <a:t>paint(Graphics) — rendering code</a:t>
            </a:r>
          </a:p>
          <a:p>
            <a:pPr>
              <a:defRPr sz="1800"/>
            </a:pPr>
            <a:r>
              <a:t>stop() — when applet is no longer visible</a:t>
            </a:r>
          </a:p>
          <a:p>
            <a:pPr>
              <a:defRPr sz="1800"/>
            </a:pPr>
            <a:r>
              <a:t>destroy() — cleanup before unload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Example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Displays text in paint(Graphics g)</a:t>
            </a:r>
          </a:p>
          <a:p>
            <a:pPr>
              <a:defRPr sz="1800"/>
            </a:pPr>
            <a:r>
              <a:t>Compiled to .class files and embedded via &lt;applet&gt; tag (obsolete)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HelloApplet.java — Sample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// HelloApplet.java</a:t>
            </a:r>
          </a:p>
          <a:p>
            <a:pPr>
              <a:defRPr sz="1200">
                <a:latin typeface="Courier New"/>
              </a:defRPr>
            </a:pPr>
            <a:r>
              <a:t>import java.applet.Applet;</a:t>
            </a:r>
          </a:p>
          <a:p>
            <a:pPr>
              <a:defRPr sz="1200">
                <a:latin typeface="Courier New"/>
              </a:defRPr>
            </a:pPr>
            <a:r>
              <a:t>import java.awt.Graphics;</a:t>
            </a:r>
          </a:p>
          <a:p>
            <a:pPr>
              <a:defRPr sz="1200">
                <a:latin typeface="Courier New"/>
              </a:defRPr>
            </a:pPr>
          </a:p>
          <a:p>
            <a:pPr>
              <a:defRPr sz="1200">
                <a:latin typeface="Courier New"/>
              </a:defRPr>
            </a:pPr>
            <a:r>
              <a:t>public class HelloApplet extends Applet {</a:t>
            </a:r>
          </a:p>
          <a:p>
            <a:pPr>
              <a:defRPr sz="1200">
                <a:latin typeface="Courier New"/>
              </a:defRPr>
            </a:pPr>
            <a:r>
              <a:t>    public void init() {</a:t>
            </a:r>
          </a:p>
          <a:p>
            <a:pPr>
              <a:defRPr sz="1200">
                <a:latin typeface="Courier New"/>
              </a:defRPr>
            </a:pPr>
            <a:r>
              <a:t>        // initialization code</a:t>
            </a:r>
          </a:p>
          <a:p>
            <a:pPr>
              <a:defRPr sz="1200">
                <a:latin typeface="Courier New"/>
              </a:defRPr>
            </a:pPr>
            <a:r>
              <a:t>    }</a:t>
            </a:r>
          </a:p>
          <a:p>
            <a:pPr>
              <a:defRPr sz="1200">
                <a:latin typeface="Courier New"/>
              </a:defRPr>
            </a:pPr>
            <a:r>
              <a:t>    public void paint(Graphics g) {</a:t>
            </a:r>
          </a:p>
          <a:p>
            <a:pPr>
              <a:defRPr sz="1200">
                <a:latin typeface="Courier New"/>
              </a:defRPr>
            </a:pPr>
            <a:r>
              <a:t>        g.drawString("Hello, Applet!", 20, 20);</a:t>
            </a:r>
          </a:p>
          <a:p>
            <a:pPr>
              <a:defRPr sz="1200">
                <a:latin typeface="Courier New"/>
              </a:defRPr>
            </a:pPr>
            <a:r>
              <a:t>    }</a:t>
            </a:r>
          </a:p>
          <a:p>
            <a:pPr>
              <a:defRPr sz="12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Advantages: platform independence, easy to embed historically</a:t>
            </a:r>
          </a:p>
          <a:p>
            <a:pPr>
              <a:defRPr sz="1800"/>
            </a:pPr>
            <a:r>
              <a:t>Disadvantages: requires plugin, deprecated, security sandbox limits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Convert to standalone Swing/JavaFX app</a:t>
            </a:r>
          </a:p>
          <a:p>
            <a:pPr>
              <a:defRPr sz="1800"/>
            </a:pPr>
            <a:r>
              <a:t>Package as executable JAR or use Java Web Start (limited support)</a:t>
            </a:r>
          </a:p>
          <a:p>
            <a:pPr>
              <a:defRPr sz="1800"/>
            </a:pPr>
            <a:r>
              <a:t>Rewrite UI in HTML5/JavaScript and connect to Java backend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Tips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Avoid tight repaint loops; separate UI from logic</a:t>
            </a:r>
          </a:p>
          <a:p>
            <a:pPr>
              <a:defRPr sz="1800"/>
            </a:pPr>
            <a:r>
              <a:t>Test in legacy environments if needed</a:t>
            </a:r>
          </a:p>
          <a:p>
            <a:pPr>
              <a:defRPr sz="1800"/>
            </a:pPr>
            <a:r>
              <a:t>Document security restrictions and user JVM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Oracle Java docs (archived)</a:t>
            </a:r>
          </a:p>
          <a:p>
            <a:pPr>
              <a:defRPr sz="1800"/>
            </a:pPr>
            <a:r>
              <a:t>JavaFX and Swing migration guides</a:t>
            </a:r>
          </a:p>
          <a:p>
            <a:pPr>
              <a:defRPr sz="1800"/>
            </a:pPr>
            <a:r>
              <a:t>Community blogs and archived tutorials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Goals &amp;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Understand Java Applet basics, lifecycle, and embedding (legacy)</a:t>
            </a:r>
          </a:p>
          <a:p>
            <a:pPr>
              <a:defRPr sz="1800"/>
            </a:pPr>
            <a:r>
              <a:t>Hands-on: compile &amp; run sample applets in a legacy environment</a:t>
            </a:r>
          </a:p>
          <a:p>
            <a:pPr>
              <a:defRPr sz="1800"/>
            </a:pPr>
            <a:r>
              <a:t>Exercises: modify examples, add interactivity, and debug</a:t>
            </a:r>
          </a:p>
          <a:p>
            <a:pPr>
              <a:defRPr sz="1800"/>
            </a:pPr>
            <a:r>
              <a:t>Quiz to test understanding and next steps for migration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— Tools &amp; Environment (Legacy)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JDK 8 (recommended for legacy applets) installed and PATH set</a:t>
            </a:r>
          </a:p>
          <a:p>
            <a:pPr>
              <a:defRPr sz="1800"/>
            </a:pPr>
            <a:r>
              <a:t>Use an old browser that supports Java plugin (e.g., Internet Explorer 11)</a:t>
            </a:r>
          </a:p>
          <a:p>
            <a:pPr>
              <a:defRPr sz="1800"/>
            </a:pPr>
            <a:r>
              <a:t>Enable Java plugin in browser and add site to Exception Site List</a:t>
            </a:r>
          </a:p>
          <a:p>
            <a:pPr>
              <a:defRPr sz="1800"/>
            </a:pPr>
            <a:r>
              <a:t>Alternative: run as standalone app (applet viewer or converting to JAR)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1 — Compile &amp; Run with appletviewer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Step 1: Save HelloApplet.java (example provided earlier)</a:t>
            </a:r>
          </a:p>
          <a:p>
            <a:pPr>
              <a:defRPr sz="1400">
                <a:latin typeface="Calibri"/>
              </a:defRPr>
            </a:pPr>
            <a:r>
              <a:t>Step 2: Open terminal and compile: javac HelloApplet.java</a:t>
            </a:r>
          </a:p>
          <a:p>
            <a:pPr>
              <a:defRPr sz="1400">
                <a:latin typeface="Calibri"/>
              </a:defRPr>
            </a:pPr>
            <a:r>
              <a:t>Step 3: Run using appletviewer: appletviewer HelloApplet.java</a:t>
            </a:r>
          </a:p>
          <a:p>
            <a:pPr>
              <a:defRPr sz="1400">
                <a:latin typeface="Calibri"/>
              </a:defRPr>
            </a:pPr>
            <a:r>
              <a:t>Notes: appletviewer is part of JDK tools and simulates browser behavior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2 — Embedding in HTML (legacy)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Create hello.html with &lt;applet code='HelloApplet.class' width='300' height='100'&gt;</a:t>
            </a:r>
          </a:p>
          <a:p>
            <a:pPr>
              <a:defRPr sz="1400">
                <a:latin typeface="Calibri"/>
              </a:defRPr>
            </a:pPr>
            <a:r>
              <a:t>Place HelloApplet.class and hello.html in same folder</a:t>
            </a:r>
          </a:p>
          <a:p>
            <a:pPr>
              <a:defRPr sz="1400">
                <a:latin typeface="Calibri"/>
              </a:defRPr>
            </a:pPr>
            <a:r>
              <a:t>Open in legacy browser configured with Java plugin</a:t>
            </a:r>
          </a:p>
          <a:p>
            <a:pPr>
              <a:defRPr sz="1400">
                <a:latin typeface="Calibri"/>
              </a:defRPr>
            </a:pPr>
            <a:r>
              <a:t>Modern browsers will ignore &lt;applet&gt; tag — use for archival/learning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2 — Button Interaction (source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 Applet that adds a Button and handles ActionListener events</a:t>
            </a:r>
          </a:p>
          <a:p>
            <a:pPr>
              <a:defRPr sz="1800"/>
            </a:pPr>
            <a:r>
              <a:t>Key methods: init() to create UI components, paint() to draw text</a:t>
            </a:r>
          </a:p>
          <a:p>
            <a:pPr>
              <a:defRPr sz="1800"/>
            </a:pPr>
            <a:r>
              <a:t>Remember to call repaint() after state changes to update drawing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ButtonApplet.java — Interactive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See the code below (copy into ButtonApplet.java):</a:t>
            </a:r>
          </a:p>
          <a:p>
            <a:pPr>
              <a:defRPr sz="1400">
                <a:latin typeface="Calibri"/>
              </a:defRPr>
            </a:pPr>
            <a:r>
              <a:t>// ButtonApplet.java</a:t>
            </a:r>
            <a:br/>
            <a:r>
              <a:t>import java.applet.Applet;</a:t>
            </a:r>
            <a:br/>
            <a:r>
              <a:t>import java.awt.Button;</a:t>
            </a:r>
            <a:br/>
            <a:r>
              <a:t>import java.awt.Graphics;</a:t>
            </a:r>
            <a:br/>
            <a:r>
              <a:t>import java.awt.event.ActionEvent;</a:t>
            </a:r>
            <a:br/>
            <a:r>
              <a:t>import java.awt.event.ActionListener;</a:t>
            </a:r>
            <a:br/>
            <a:br/>
            <a:r>
              <a:t>public class ButtonApplet extends Applet implements ActionListener {</a:t>
            </a:r>
            <a:br/>
            <a:r>
              <a:t>    String msg = "No click yet";</a:t>
            </a:r>
            <a:br/>
            <a:r>
              <a:t>    Button btn;</a:t>
            </a:r>
            <a:br/>
            <a:r>
              <a:t>    public void init() {</a:t>
            </a:r>
            <a:br/>
            <a:r>
              <a:t>        btn = new Button("Click me");</a:t>
            </a:r>
            <a:br/>
            <a:r>
              <a:t>        add(btn);</a:t>
            </a:r>
            <a:br/>
            <a:r>
              <a:t>        btn.addActionListener(this);</a:t>
            </a:r>
            <a:br/>
            <a:r>
              <a:t>    }</a:t>
            </a:r>
            <a:br/>
            <a:r>
              <a:t>    public void actionPerformed(ActionEvent e) {</a:t>
            </a:r>
            <a:br/>
            <a:r>
              <a:t>        msg = "Button clicked!";</a:t>
            </a:r>
            <a:br/>
            <a:r>
              <a:t>        repaint();</a:t>
            </a:r>
            <a:br/>
            <a:r>
              <a:t>    }</a:t>
            </a:r>
            <a:br/>
            <a:r>
              <a:t>    public void paint(Graphics g) {</a:t>
            </a:r>
            <a:br/>
            <a:r>
              <a:t>        g.drawString(msg, 20, 60);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— Modify HelloApplet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Task: Make HelloApplet display current system time (updated every second)</a:t>
            </a:r>
          </a:p>
          <a:p>
            <a:pPr>
              <a:defRPr sz="1800"/>
            </a:pPr>
            <a:r>
              <a:t>Hints: Use a Thread or java.util.Timer; call repaint() after updating state</a:t>
            </a:r>
          </a:p>
          <a:p>
            <a:pPr>
              <a:defRPr sz="1800"/>
            </a:pPr>
            <a:r>
              <a:t>Deliverable: source file and short note on how you ran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— Add Input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Task: Add a TextField to accept user name and display greeting when submitted</a:t>
            </a:r>
          </a:p>
          <a:p>
            <a:pPr>
              <a:defRPr sz="1800"/>
            </a:pPr>
            <a:r>
              <a:t>Hints: Use java.awt.TextField and ActionListener for enter/submit</a:t>
            </a:r>
          </a:p>
          <a:p>
            <a:pPr>
              <a:defRPr sz="1800"/>
            </a:pPr>
            <a:r>
              <a:t>Deliverable: modified applet source and steps to replicate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— Simple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Task: Animate a ball moving across the applet area</a:t>
            </a:r>
          </a:p>
          <a:p>
            <a:pPr>
              <a:defRPr sz="1800"/>
            </a:pPr>
            <a:r>
              <a:t>Hints: double buffering, repaint loop with Thread.sleep(), and synchronized state</a:t>
            </a:r>
          </a:p>
          <a:p>
            <a:pPr>
              <a:defRPr sz="1800"/>
            </a:pPr>
            <a:r>
              <a:t>Deliverable: source code, short performance notes, and screenshots/GIF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Check console output from browser or appletviewer for exceptions</a:t>
            </a:r>
          </a:p>
          <a:p>
            <a:pPr>
              <a:defRPr sz="1800"/>
            </a:pPr>
            <a:r>
              <a:t>Use try/catch and printStackTrace() to surface hidden errors</a:t>
            </a:r>
          </a:p>
          <a:p>
            <a:pPr>
              <a:defRPr sz="1800"/>
            </a:pPr>
            <a:r>
              <a:t>When GUI doesn't update, ensure repaint() is called on state 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Permissions (Sandbox)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Unsigned applets run in strict sandbox — limited file/network access</a:t>
            </a:r>
          </a:p>
          <a:p>
            <a:pPr>
              <a:defRPr sz="1800"/>
            </a:pPr>
            <a:r>
              <a:t>For extra permissions, sign the applet JAR with keytool/jarsigner (legacy)</a:t>
            </a:r>
          </a:p>
          <a:p>
            <a:pPr>
              <a:defRPr sz="1800"/>
            </a:pPr>
            <a:r>
              <a:t>Document required permissions and test on target JVM/browser combo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Example — Convert to Swing JAR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Wrap applet UI code into a JFrame to create a standalone application</a:t>
            </a:r>
          </a:p>
          <a:p>
            <a:pPr>
              <a:defRPr sz="1800"/>
            </a:pPr>
            <a:r>
              <a:t>Create main() method that constructs and shows the UI on Event Dispatch Thread</a:t>
            </a:r>
          </a:p>
          <a:p>
            <a:pPr>
              <a:defRPr sz="1800"/>
            </a:pPr>
            <a:r>
              <a:t>Benefits: no browser plugin, easier distribution as executable JAR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Sketch — Applet to Swing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Conceptual code to wrap UI in a JFrame (save as HelloApp.java):</a:t>
            </a:r>
          </a:p>
          <a:p>
            <a:pPr>
              <a:defRPr sz="1400">
                <a:latin typeface="Calibri"/>
              </a:defRPr>
            </a:pPr>
            <a:r>
              <a:t>// Migration sketch (conceptual)</a:t>
            </a:r>
            <a:br/>
            <a:r>
              <a:t>public class HelloApp extends javax.swing.JFrame {</a:t>
            </a:r>
            <a:br/>
            <a:r>
              <a:t>    public HelloApp() {</a:t>
            </a:r>
            <a:br/>
            <a:r>
              <a:t>        setSize(320,120);</a:t>
            </a:r>
            <a:br/>
            <a:r>
              <a:t>        setDefaultCloseOperation(EXIT_ON_CLOSE);</a:t>
            </a:r>
            <a:br/>
            <a:r>
              <a:t>        add(new javax.swing.JLabel("Hello, Applet -&gt; App"));</a:t>
            </a:r>
            <a:br/>
            <a:r>
              <a:t>    }</a:t>
            </a:r>
            <a:br/>
            <a:r>
              <a:t>    public static void main(String[] args) {</a:t>
            </a:r>
            <a:br/>
            <a:r>
              <a:t>        javax.swing.SwingUtilities.invokeLater(() -&gt; new HelloApp().setVisible(true));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— Quick Knowledge Check (Answers after)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Q1: Which lifecycle method paints the screen?</a:t>
            </a:r>
          </a:p>
          <a:p>
            <a:pPr>
              <a:defRPr sz="1800"/>
            </a:pPr>
            <a:r>
              <a:t>Q2: Why are applets deprecated in modern browsers?</a:t>
            </a:r>
          </a:p>
          <a:p>
            <a:pPr>
              <a:defRPr sz="1800"/>
            </a:pPr>
            <a:r>
              <a:t>Q3: Name two migration paths from applet to modern app</a:t>
            </a:r>
          </a:p>
          <a:p>
            <a:pPr>
              <a:defRPr sz="1800"/>
            </a:pPr>
            <a:r>
              <a:t>Q4: How do you grant extra permissions to an applet (legacy)?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A1: paint(Graphics g)</a:t>
            </a:r>
          </a:p>
          <a:p>
            <a:pPr>
              <a:defRPr sz="1800"/>
            </a:pPr>
            <a:r>
              <a:t>A2: Requires NPAPI Java plugin which modern browsers removed; security concerns</a:t>
            </a:r>
          </a:p>
          <a:p>
            <a:pPr>
              <a:defRPr sz="1800"/>
            </a:pPr>
            <a:r>
              <a:t>A3: Convert to standalone Swing/JavaFX app; rewrite UI in HTML5/JS; package as JAR</a:t>
            </a:r>
          </a:p>
          <a:p>
            <a:pPr>
              <a:defRPr sz="1800"/>
            </a:pPr>
            <a:r>
              <a:t>A4: Sign the JAR with jarsigner and install certs (legacy process)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Instructor Notes &amp;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Total recommended time: 90–120 minutes (lecture + demos + exercises)</a:t>
            </a:r>
          </a:p>
          <a:p>
            <a:pPr>
              <a:defRPr sz="1800"/>
            </a:pPr>
            <a:r>
              <a:t>Split: 25m theory, 25m demos, 35–45m hands-on exercises, 10–15m quiz &amp; wrap-up</a:t>
            </a:r>
          </a:p>
          <a:p>
            <a:pPr>
              <a:defRPr sz="1800"/>
            </a:pPr>
            <a:r>
              <a:t>Prerequisites: basic Java (classes, threads), JDK installation experience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Practice: complete exercises and document steps to run each applet</a:t>
            </a:r>
          </a:p>
          <a:p>
            <a:pPr>
              <a:defRPr sz="1800"/>
            </a:pPr>
            <a:r>
              <a:t>Read: Java Swing tutorials, JavaFX migration guides, and archived applet docs</a:t>
            </a:r>
          </a:p>
          <a:p>
            <a:pPr>
              <a:defRPr sz="1800"/>
            </a:pPr>
            <a:r>
              <a:t>Contact: Evans M. Buongo for workshop follow-up and customizations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